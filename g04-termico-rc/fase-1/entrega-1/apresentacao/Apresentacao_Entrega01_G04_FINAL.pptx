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4af296d024e0f" /><Relationship Type="http://schemas.openxmlformats.org/officeDocument/2006/relationships/extended-properties" Target="/docProps/app.xml" Id="Rc980d28ecd9d40c2" /><Relationship Type="http://schemas.openxmlformats.org/officeDocument/2006/relationships/officeDocument" Target="/ppt/presentation.xml" Id="R7d9d3d848b6e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d06e38d9c46ef"/>
  </p:sldMasterIdLst>
  <p:notesMasterIdLst>
    <p:notesMasterId xmlns:r="http://schemas.openxmlformats.org/officeDocument/2006/relationships" r:id="Rda9a23d117634779"/>
  </p:notesMasterIdLst>
  <p:sldIdLst>
    <p:sldId xmlns:r="http://schemas.openxmlformats.org/officeDocument/2006/relationships" id="256" r:id="R899a44ad1eeb440c"/>
    <p:sldId xmlns:r="http://schemas.openxmlformats.org/officeDocument/2006/relationships" id="257" r:id="R799ba9630e344d11"/>
    <p:sldId xmlns:r="http://schemas.openxmlformats.org/officeDocument/2006/relationships" id="258" r:id="R06bd87006fc84b45"/>
    <p:sldId xmlns:r="http://schemas.openxmlformats.org/officeDocument/2006/relationships" id="259" r:id="Rc03850465f76486b"/>
    <p:sldId xmlns:r="http://schemas.openxmlformats.org/officeDocument/2006/relationships" id="260" r:id="Rc734ba1edf12447f"/>
    <p:sldId xmlns:r="http://schemas.openxmlformats.org/officeDocument/2006/relationships" id="261" r:id="R223c4748fdbd4412"/>
    <p:sldId xmlns:r="http://schemas.openxmlformats.org/officeDocument/2006/relationships" id="262" r:id="R017113ca16544b55"/>
    <p:sldId xmlns:r="http://schemas.openxmlformats.org/officeDocument/2006/relationships" id="263" r:id="R2065d6b3b6dc4cc3"/>
    <p:sldId xmlns:r="http://schemas.openxmlformats.org/officeDocument/2006/relationships" id="264" r:id="Rfb7fcd1ec465475a"/>
    <p:sldId xmlns:r="http://schemas.openxmlformats.org/officeDocument/2006/relationships" id="265" r:id="Rff43da0bffaa48ed"/>
    <p:sldId xmlns:r="http://schemas.openxmlformats.org/officeDocument/2006/relationships" id="266" r:id="R4e2d3ff9e62b4f8f"/>
    <p:sldId xmlns:r="http://schemas.openxmlformats.org/officeDocument/2006/relationships" id="267" r:id="R6b3892bf434a4f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a800f1eef44de" /><Relationship Type="http://schemas.openxmlformats.org/officeDocument/2006/relationships/slideMaster" Target="/ppt/slideMasters/slideMaster1.xml" Id="R290d06e38d9c46ef" /><Relationship Type="http://schemas.openxmlformats.org/officeDocument/2006/relationships/notesMaster" Target="/ppt/notesMasters/notesMaster1.xml" Id="Rda9a23d117634779" /><Relationship Type="http://schemas.openxmlformats.org/officeDocument/2006/relationships/presProps" Target="/ppt/presProps.xml" Id="Rffb313ad66de42ee" /><Relationship Type="http://schemas.openxmlformats.org/officeDocument/2006/relationships/tableStyles" Target="/ppt/tableStyles.xml" Id="Rcde8896afe7b41ac" /><Relationship Type="http://schemas.openxmlformats.org/officeDocument/2006/relationships/slide" Target="/ppt/slides/slide1.xml" Id="R899a44ad1eeb440c" /><Relationship Type="http://schemas.openxmlformats.org/officeDocument/2006/relationships/slide" Target="/ppt/slides/slide2.xml" Id="R799ba9630e344d11" /><Relationship Type="http://schemas.openxmlformats.org/officeDocument/2006/relationships/slide" Target="/ppt/slides/slide3.xml" Id="R06bd87006fc84b45" /><Relationship Type="http://schemas.openxmlformats.org/officeDocument/2006/relationships/slide" Target="/ppt/slides/slide4.xml" Id="Rc03850465f76486b" /><Relationship Type="http://schemas.openxmlformats.org/officeDocument/2006/relationships/slide" Target="/ppt/slides/slide5.xml" Id="Rc734ba1edf12447f" /><Relationship Type="http://schemas.openxmlformats.org/officeDocument/2006/relationships/slide" Target="/ppt/slides/slide6.xml" Id="R223c4748fdbd4412" /><Relationship Type="http://schemas.openxmlformats.org/officeDocument/2006/relationships/slide" Target="/ppt/slides/slide7.xml" Id="R017113ca16544b55" /><Relationship Type="http://schemas.openxmlformats.org/officeDocument/2006/relationships/slide" Target="/ppt/slides/slide8.xml" Id="R2065d6b3b6dc4cc3" /><Relationship Type="http://schemas.openxmlformats.org/officeDocument/2006/relationships/slide" Target="/ppt/slides/slide9.xml" Id="Rfb7fcd1ec465475a" /><Relationship Type="http://schemas.openxmlformats.org/officeDocument/2006/relationships/slide" Target="/ppt/slides/slide10.xml" Id="Rff43da0bffaa48ed" /><Relationship Type="http://schemas.openxmlformats.org/officeDocument/2006/relationships/slide" Target="/ppt/slides/slide11.xml" Id="R4e2d3ff9e62b4f8f" /><Relationship Type="http://schemas.openxmlformats.org/officeDocument/2006/relationships/slide" Target="/ppt/slides/slide12.xml" Id="R6b3892bf434a4f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b3290b95e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70af910474d1b" /><Relationship Type="http://schemas.openxmlformats.org/officeDocument/2006/relationships/notesMaster" Target="/ppt/notesMasters/notesMaster1.xml" Id="Rdcbc28d5c7b042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6635e6fab043cf" /><Relationship Type="http://schemas.openxmlformats.org/officeDocument/2006/relationships/notesMaster" Target="/ppt/notesMasters/notesMaster1.xml" Id="R41e9cd52f618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2d588ede54e9b" /><Relationship Type="http://schemas.openxmlformats.org/officeDocument/2006/relationships/notesMaster" Target="/ppt/notesMasters/notesMaster1.xml" Id="R60945f4c3ff0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31276538b34e5e" /><Relationship Type="http://schemas.openxmlformats.org/officeDocument/2006/relationships/notesMaster" Target="/ppt/notesMasters/notesMaster1.xml" Id="R060f00197c2649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844424dba4417" /><Relationship Type="http://schemas.openxmlformats.org/officeDocument/2006/relationships/notesMaster" Target="/ppt/notesMasters/notesMaster1.xml" Id="R7d68288f97364e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4fd6c62a4f480f" /><Relationship Type="http://schemas.openxmlformats.org/officeDocument/2006/relationships/notesMaster" Target="/ppt/notesMasters/notesMaster1.xml" Id="R584e61fd0dbe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aff680b77444d6" /><Relationship Type="http://schemas.openxmlformats.org/officeDocument/2006/relationships/notesMaster" Target="/ppt/notesMasters/notesMaster1.xml" Id="R25eccb82053946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73fac131054093" /><Relationship Type="http://schemas.openxmlformats.org/officeDocument/2006/relationships/notesMaster" Target="/ppt/notesMasters/notesMaster1.xml" Id="R00fb1e24e60a4d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3d10fa11b4a56" /><Relationship Type="http://schemas.openxmlformats.org/officeDocument/2006/relationships/notesMaster" Target="/ppt/notesMasters/notesMaster1.xml" Id="R91d8a0eb262641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1f7f947514593" /><Relationship Type="http://schemas.openxmlformats.org/officeDocument/2006/relationships/notesMaster" Target="/ppt/notesMasters/notesMaster1.xml" Id="R33aa6177b4c143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1513899bd4006" /><Relationship Type="http://schemas.openxmlformats.org/officeDocument/2006/relationships/notesMaster" Target="/ppt/notesMasters/notesMaster1.xml" Id="R606de91893ef4a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085332c408407e" /><Relationship Type="http://schemas.openxmlformats.org/officeDocument/2006/relationships/notesMaster" Target="/ppt/notesMasters/notesMaster1.xml" Id="R41fd613682f1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 min. Apresente o par realmente atribuído à equipe: sensor capacitivo do Capítulo 7.2 e filtros do Capítulo 6.2. Esclareça desde a primeira fala que esta Entrega 01 trata da cadeia ideal, separada do antigo sistema térmico RC. O modelo foi compilado e executado no TyphoonSim, com captura de 42 mil amostras a 1 ms. Os ganhos medidos serão mostrados ao final, separados das previsões analíticas. Fonte da atribuição: ECOM060, Tabela Fase 1 corrigida, linha G04; Orientação Entrega 01, pp. 1-3.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1,5 min. Explique que o rodízio associa G04 ao sensor capacitivo e ao circuito de filtros. Não tentar usar o sensor para medir a temperatura do sistema térmico RC anterior. Nesta fase, o sensor é estudado por mérito próprio, com um sinal de referência padronizado. O objetivo da Entrega 01 é dimensionar a cadeia ideal, antes de adicionar não linearidade, dinâmica do sensor e modulação na Entrega 02. Fonte: Tabela Fase 1 corrigida, linha G04; apresentação do professor, slides 3-6.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2,5 min. O elemento sensível tem um dielétrico higroscópico. Quando a umidade relativa varia, a permissividade efetiva varia e a capacitância medida também varia. Capacitância é o parâmetro elétrico nativo; o sensor bruto não entrega diretamente uma tensão DC proporcional à umidade. Precisamos de excitação AC e uma interface de leitura. Classificação da análise generalizada: sensor passivo porque requer excitação; por deflexão porque a grandeza desloca diretamente a capacitância, sem servo de nulo. Nesta apresentação, a interface capacitiva é idealizada para manter o foco no filtro. Fonte: datasheet Measurement Specialties HS1101LF, HPC052_I, pp. 1-2, https://www.mouser.com/ds/2/418/HS1101LF-769619.pdf ; acesso em 27/09/2026.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Identifique claramente os números pesquisados, não inventados: 180 pF nominal a 55% UR, tolerância 177-183 pF; sensibilidade média 0,31 pF por ponto percentual de UR entre 33% e 75%; constante de resposta típica de 3 s e máxima de 5 s para um degrau de 33% a 80% em ar parado; medição de capacitância sob 10 kHz e 1 V. O intervalo de medição informado é 1 a 99% UR, mas a aproximação linear usada depois fica restrita a 33-75%. Não estenda a inclinação média a toda a faixa sem justificativa. Fonte: Measurement Specialties, HS1101LF, HPC052_I, p. 2, https://www.mouser.com/ds/2/418/HS1101LF-769619.pdf ; acesso em 27/09/2026.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Leia o alvo do professor e explique a escolha operacional com honestidade. A frase '20 dB acima do corte' não pode significar imediatamente acima da frequência de corte, pois filtros contínuos têm transição. Derivamos da constante de 3 s uma escala útil f_s de 0,053 Hz. Projetamos uma banda de passagem que preserve essa dinâmica com perda adicional menor que meio decibel. Definimos a banda de rejeição em f maior ou igual a 1 Hz e exigimos ao menos 20 dB de atenuação nela. 1 Hz é decisão nossa, não número da orientação. Fonte: Orientação Entrega 01, R2 e tabela Família B; apresentação do professor,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2,5 min. Siga o caminho da esquerda para a direita. A entrada física simulada é UR; o HS1101LF idealizado fornece uma capacitância calculada a partir de valores do fabricante. Um divisor com capacitor de referência de 180 pF transforma a capacitância em amplitude para uma excitação AC de 1 V. A extração da envoltória é ideal nesta etapa; o arquivo .tse simula diretamente a envoltória, não resolve o carrier de 10 kHz. Em seguida entram dois estágios RC isolados por buffers ideais, que constituem o circuito atribuído à G04. No .tse eles são implementados por C functions comportamentais equivalentes, sem resistores e capacitores físicos discretos. O resultado é V filtrado. O degrau 33-75% UR fica na faixa publicada de sensibilidade média. Ensaios senoidais de 0,1 e 1 Hz servem à verificação do ganho em frequência.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A linearização usa a sensibilidade média publicada somente no intervalo 33-75% UR. Escreva C(UR)=180+0,31(UR-55) pF. Em 33% resulta 173,18 pF e em 75% 186,20 pF. Escolhemos um capacitor de referência igual ao valor nominal do sensor, 180 pF. Com uma excitação AC de 1 V de pico, o divisor ideal produz envoltória V=C/(C+180), resultando em cerca de 0,4903 e 0,5085 V. Diferencie dados publicados, C55 e S, das escolhas nossas, Cref e arquitetura de leitura. Isso não é uma tensão DC nativa do componente.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3 min. Mostre a dedução passo a passo. Da constante típica do sensor de 3 s vem f_s=1/(2π·3)=0,05305 Hz. Escolhemos cada polo do filtro cinco vezes acima dessa escala para preservar a informação lenta. Assim f_p=0,26526 Hz. Fixamos R1=R2=100 kΩ e resolvemos C=1/(2πRf_p), chegando a 6 µF por estágio. Há buffers ideais entre os dois RC para evitar carregamento; sem eles a função de transferência seria diferente. O transfer total é 1/(1+sRC)^2. O ponto de -3 dB da cadeia é 0,1707 Hz, diferente do polo individual em 0,2653 Hz. Os valores são escolhas de projeto derivadas dos dados reais, não retirados do datasheet.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Um amplificador aumentaria ou reduziria amplitude, mas não faria a rejeição em frequência exigida. Uma ponte capacitiva ajudaria na interface, mas sem filtro também não resolveria R2. Para dois RC isolados, o módulo é 1/[1+(f/f_p)^2]. A perda adicional na escala do sensor é só 0,341 dB. Em 0,1 Hz, 1,154 dB. Em 1 Hz, a atenuação teórica é 23,644 dB, superior aos 20 dB pedidos. O limiar exato de 20 dB ocorre em f=3f_p=0,7958 Hz, então toda frequência maior ou igual a 1 Hz tem ao menos essa atenuação segundo o modelo ideal. Estes números são previsões; a medição aparece no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Mostre o arquivo .tse no outro computador. Ele usa um ciclo de 20 s com degrau de 33 a 75% UR após 2 s. A mesma cadeia é excitada por sinais lentos equivalentes para medir o ganho: 0,1 Hz na banda útil e 1 Hz na banda rejeitada. Há probes antes e depois do filtro, além de UR, capacitância e reset. O script capturar_vhil.py compilou, carregou no VHIL e usou a API Capture; não houve polling. O arquivo tem 42 mil pontos, passo de 1 ms e nove sinais. O script analisar_captura.py verificou o CSV e o hash do modelo, selecionou um ciclo completo de 20 s e calculou a amplitude fundamental entre 10 e 20 s. A captura é de 28 de setembro de 2026, THCC 2026.3.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2,5 min. Diferencie previsão e medição. A previsão em 1 Hz é -23,643858 dB; o CSV do TyphoonSim deu -23,644 dB. A diferença é menor que 0,00001 dB, dentro da tolerância de 0,5 dB. Em 0,1 Hz, o ganho medido foi -1,154 dB, também coerente com a previsão de -1,154252 dB. O gráfico editável mostra três períodos do sinal de 1 Hz, centrados em 0,5 V: entrada antes do filtro e saída após o filtro. A saída ainda oscila, mas com amplitude muito menor. O critério de atenuação de pelo menos 20 dB foi ensaiado diretamente na borda declarada de 1 Hz. O argumento para toda a banda f maior ou igual a 1 Hz depende da monotonicidade do modelo ideal, não de uma varredura experimental contínua. Fonte: CSV TyphoonSim/Virtual HIL capturado em 28/09/2026, metadados SHA-256 e resumo.json.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 min. Retome o encadeamento: parâmetro real pesquisado, meta mensurável, cálculo de R e C, implementação do modelo e teste objetivo. O VHIL mediu -23,644 dB em 1 Hz, ultrapassando a meta de 20 dB de atenuação. Os sete testes automatizados passaram. Entregue o relatório com CSV e metadados para rastreabilidade. A próxima entrega adicionará não linearidade estática, dinâmica de primeira ordem do sensor e modulação por portadora; isso não foi implementado aqui, porque a Entrega 01 é ideal. Fontes: ECOM060, Orientação Entrega 01; Tabela Fase 1 corrigida, G04; Fase 1 Apresentação, 23/09/2026; Measurement Specialties/TE, HS1101LF datasheet HPC052_I, 2012, https://www.mouser.com/ds/2/418/HS1101LF-769619.pdf , acesso 27/09/2026.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2a213a5744a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dd82ea741b4b5f" /><Relationship Type="http://schemas.openxmlformats.org/officeDocument/2006/relationships/slideLayout" Target="/ppt/slideLayouts/slideLayout1.xml" Id="R219fbafcb52643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9fbafcb52643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1251a51b0435a" /><Relationship Type="http://schemas.openxmlformats.org/officeDocument/2006/relationships/notesSlide" Target="/ppt/notesSlides/notesSlide1.xml" Id="R4e82b2ed0f93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cf449417f4b6b" /><Relationship Type="http://schemas.openxmlformats.org/officeDocument/2006/relationships/notesSlide" Target="/ppt/notesSlides/notesSlide2.xml" Id="R7b1b17fe5f4f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eaf6f5894063" /><Relationship Type="http://schemas.openxmlformats.org/officeDocument/2006/relationships/notesSlide" Target="/ppt/notesSlides/notesSlide3.xml" Id="R88516ca9a35b4c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23f7fb9bd420e" /><Relationship Type="http://schemas.openxmlformats.org/officeDocument/2006/relationships/notesSlide" Target="/ppt/notesSlides/notesSlide4.xml" Id="R5946cc5514e4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56a06df64b27" /><Relationship Type="http://schemas.openxmlformats.org/officeDocument/2006/relationships/notesSlide" Target="/ppt/notesSlides/notesSlide5.xml" Id="Rdc4dd9afab914a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7f23a7b3e4a9f" /><Relationship Type="http://schemas.openxmlformats.org/officeDocument/2006/relationships/notesSlide" Target="/ppt/notesSlides/notesSlide6.xml" Id="R23f9c0ae6f5747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869bd8d9b45cf" /><Relationship Type="http://schemas.openxmlformats.org/officeDocument/2006/relationships/notesSlide" Target="/ppt/notesSlides/notesSlide7.xml" Id="Rf18f31b2603c42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c8c68a25d4681" /><Relationship Type="http://schemas.openxmlformats.org/officeDocument/2006/relationships/notesSlide" Target="/ppt/notesSlides/notesSlide8.xml" Id="Rbb2754ce397549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ecd795c1b4d32" /><Relationship Type="http://schemas.openxmlformats.org/officeDocument/2006/relationships/notesSlide" Target="/ppt/notesSlides/notesSlide9.xml" Id="R238711d6b542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2dbda2e78432b" /><Relationship Type="http://schemas.openxmlformats.org/officeDocument/2006/relationships/notesSlide" Target="/ppt/notesSlides/notesSlide10.xml" Id="Ra96586f9f7cc41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7918de134cee" /><Relationship Type="http://schemas.openxmlformats.org/officeDocument/2006/relationships/chart" Target="/ppt/slides/charts/chart1.xml" Id="Re5ead2b636344026" /><Relationship Type="http://schemas.openxmlformats.org/officeDocument/2006/relationships/notesSlide" Target="/ppt/notesSlides/notesSlide11.xml" Id="R6473882283bf46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45fde11da443d" /><Relationship Type="http://schemas.openxmlformats.org/officeDocument/2006/relationships/notesSlide" Target="/ppt/notesSlides/notesSlide12.xml" Id="R8ba5d6dd505c48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Antes do filtro</c:v>
          </c:tx>
          <c:spPr>
            <a:ln xmlns:a="http://schemas.openxmlformats.org/drawingml/2006/main" w="20955">
              <a:solidFill>
                <a:srgbClr val="F4C544"/>
              </a:solidFill>
              <a:prstDash val="solid"/>
            </a:ln>
          </c:spPr>
          <c:marker>
            <c:symbol val="none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'Chart Data'!$B$2:$B$62</c:f>
              <c:numCache>
                <c:formatCode>0.0</c:formatCode>
                <c:ptCount val="61"/>
                <c:pt idx="0">
                  <c:v>0</c:v>
                </c:pt>
                <c:pt idx="1">
                  <c:v>0.664353</c:v>
                </c:pt>
                <c:pt idx="2">
                  <c:v>1.262188</c:v>
                </c:pt>
                <c:pt idx="3">
                  <c:v>1.735568</c:v>
                </c:pt>
                <c:pt idx="4">
                  <c:v>2.039075</c:v>
                </c:pt>
                <c:pt idx="5">
                  <c:v>2.143562</c:v>
                </c:pt>
                <c:pt idx="6">
                  <c:v>2.039075</c:v>
                </c:pt>
                <c:pt idx="7">
                  <c:v>1.735568</c:v>
                </c:pt>
                <c:pt idx="8">
                  <c:v>1.262188</c:v>
                </c:pt>
                <c:pt idx="9">
                  <c:v>0.664353</c:v>
                </c:pt>
                <c:pt idx="10">
                  <c:v>0</c:v>
                </c:pt>
                <c:pt idx="11">
                  <c:v>-0.666142</c:v>
                </c:pt>
                <c:pt idx="12">
                  <c:v>-1.268595</c:v>
                </c:pt>
                <c:pt idx="13">
                  <c:v>-1.747727</c:v>
                </c:pt>
                <c:pt idx="14">
                  <c:v>-2.055824</c:v>
                </c:pt>
                <c:pt idx="15">
                  <c:v>-2.162099</c:v>
                </c:pt>
                <c:pt idx="16">
                  <c:v>-2.055824</c:v>
                </c:pt>
                <c:pt idx="17">
                  <c:v>-1.747727</c:v>
                </c:pt>
                <c:pt idx="18">
                  <c:v>-1.268595</c:v>
                </c:pt>
                <c:pt idx="19">
                  <c:v>-0.666142</c:v>
                </c:pt>
                <c:pt idx="20">
                  <c:v>0</c:v>
                </c:pt>
                <c:pt idx="21">
                  <c:v>0.664353</c:v>
                </c:pt>
                <c:pt idx="22">
                  <c:v>1.262188</c:v>
                </c:pt>
                <c:pt idx="23">
                  <c:v>1.735568</c:v>
                </c:pt>
                <c:pt idx="24">
                  <c:v>2.039075</c:v>
                </c:pt>
                <c:pt idx="25">
                  <c:v>2.143562</c:v>
                </c:pt>
                <c:pt idx="26">
                  <c:v>2.039075</c:v>
                </c:pt>
                <c:pt idx="27">
                  <c:v>1.735568</c:v>
                </c:pt>
                <c:pt idx="28">
                  <c:v>1.262188</c:v>
                </c:pt>
                <c:pt idx="29">
                  <c:v>0.664353</c:v>
                </c:pt>
                <c:pt idx="30">
                  <c:v>0</c:v>
                </c:pt>
                <c:pt idx="31">
                  <c:v>-0.666142</c:v>
                </c:pt>
                <c:pt idx="32">
                  <c:v>-1.268595</c:v>
                </c:pt>
                <c:pt idx="33">
                  <c:v>-1.747727</c:v>
                </c:pt>
                <c:pt idx="34">
                  <c:v>-2.055824</c:v>
                </c:pt>
                <c:pt idx="35">
                  <c:v>-2.162099</c:v>
                </c:pt>
                <c:pt idx="36">
                  <c:v>-2.055824</c:v>
                </c:pt>
                <c:pt idx="37">
                  <c:v>-1.747727</c:v>
                </c:pt>
                <c:pt idx="38">
                  <c:v>-1.268595</c:v>
                </c:pt>
                <c:pt idx="39">
                  <c:v>-0.666142</c:v>
                </c:pt>
                <c:pt idx="40">
                  <c:v>0</c:v>
                </c:pt>
                <c:pt idx="41">
                  <c:v>0.664353</c:v>
                </c:pt>
                <c:pt idx="42">
                  <c:v>1.262188</c:v>
                </c:pt>
                <c:pt idx="43">
                  <c:v>1.735568</c:v>
                </c:pt>
                <c:pt idx="44">
                  <c:v>2.039075</c:v>
                </c:pt>
                <c:pt idx="45">
                  <c:v>2.143562</c:v>
                </c:pt>
                <c:pt idx="46">
                  <c:v>2.039075</c:v>
                </c:pt>
                <c:pt idx="47">
                  <c:v>1.735568</c:v>
                </c:pt>
                <c:pt idx="48">
                  <c:v>1.262188</c:v>
                </c:pt>
                <c:pt idx="49">
                  <c:v>0.664353</c:v>
                </c:pt>
                <c:pt idx="50">
                  <c:v>0</c:v>
                </c:pt>
                <c:pt idx="51">
                  <c:v>-0.666142</c:v>
                </c:pt>
                <c:pt idx="52">
                  <c:v>-1.268595</c:v>
                </c:pt>
                <c:pt idx="53">
                  <c:v>-1.747727</c:v>
                </c:pt>
                <c:pt idx="54">
                  <c:v>-2.055824</c:v>
                </c:pt>
                <c:pt idx="55">
                  <c:v>-2.162099</c:v>
                </c:pt>
                <c:pt idx="56">
                  <c:v>-2.055824</c:v>
                </c:pt>
                <c:pt idx="57">
                  <c:v>-1.747727</c:v>
                </c:pt>
                <c:pt idx="58">
                  <c:v>-1.268595</c:v>
                </c:pt>
                <c:pt idx="59">
                  <c:v>-0.666142</c:v>
                </c:pt>
                <c:pt idx="60">
                  <c:v>0</c:v>
                </c:pt>
              </c:numCache>
            </c:numRef>
          </c:yVal>
        </c:ser>
        <c:ser>
          <c:idx val="1"/>
          <c:order val="1"/>
          <c:tx>
            <c:v>Depois do filtro</c:v>
          </c:tx>
          <c:spPr>
            <a:ln xmlns:a="http://schemas.openxmlformats.org/drawingml/2006/main" w="20955">
              <a:solidFill>
                <a:srgbClr val="126A91"/>
              </a:solidFill>
              <a:prstDash val="solid"/>
            </a:ln>
          </c:spPr>
          <c:marker>
            <c:symbol val="none"/>
          </c:marker>
          <c:xVal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</c:v>
                </c:pt>
                <c:pt idx="23">
                  <c:v>1.15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2.05</c:v>
                </c:pt>
                <c:pt idx="42">
                  <c:v>2.1</c:v>
                </c:pt>
                <c:pt idx="43">
                  <c:v>2.15</c:v>
                </c:pt>
                <c:pt idx="44">
                  <c:v>2.2</c:v>
                </c:pt>
                <c:pt idx="45">
                  <c:v>2.25</c:v>
                </c:pt>
                <c:pt idx="46">
                  <c:v>2.3</c:v>
                </c:pt>
                <c:pt idx="47">
                  <c:v>2.35</c:v>
                </c:pt>
                <c:pt idx="48">
                  <c:v>2.4</c:v>
                </c:pt>
                <c:pt idx="49">
                  <c:v>2.45</c:v>
                </c:pt>
                <c:pt idx="50">
                  <c:v>2.5</c:v>
                </c:pt>
                <c:pt idx="51">
                  <c:v>2.55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'Chart Data'!$D$2:$D$62</c:f>
              <c:numCache>
                <c:formatCode>0.0</c:formatCode>
                <c:ptCount val="61"/>
                <c:pt idx="0">
                  <c:v>-0.074476</c:v>
                </c:pt>
                <c:pt idx="1">
                  <c:v>-0.109077</c:v>
                </c:pt>
                <c:pt idx="2">
                  <c:v>-0.133455</c:v>
                </c:pt>
                <c:pt idx="3">
                  <c:v>-0.145197</c:v>
                </c:pt>
                <c:pt idx="4">
                  <c:v>-0.14323</c:v>
                </c:pt>
                <c:pt idx="5">
                  <c:v>-0.127703</c:v>
                </c:pt>
                <c:pt idx="6">
                  <c:v>-0.100136</c:v>
                </c:pt>
                <c:pt idx="7">
                  <c:v>-0.063241</c:v>
                </c:pt>
                <c:pt idx="8">
                  <c:v>-0.020623</c:v>
                </c:pt>
                <c:pt idx="9">
                  <c:v>0.023603</c:v>
                </c:pt>
                <c:pt idx="10">
                  <c:v>0.065029</c:v>
                </c:pt>
                <c:pt idx="11">
                  <c:v>0.099719</c:v>
                </c:pt>
                <c:pt idx="12">
                  <c:v>0.124156</c:v>
                </c:pt>
                <c:pt idx="13">
                  <c:v>0.136018</c:v>
                </c:pt>
                <c:pt idx="14">
                  <c:v>0.13411</c:v>
                </c:pt>
                <c:pt idx="15">
                  <c:v>0.118554</c:v>
                </c:pt>
                <c:pt idx="16">
                  <c:v>0.090957</c:v>
                </c:pt>
                <c:pt idx="17">
                  <c:v>0.054002</c:v>
                </c:pt>
                <c:pt idx="18">
                  <c:v>0.011265</c:v>
                </c:pt>
                <c:pt idx="19">
                  <c:v>-0.032991</c:v>
                </c:pt>
                <c:pt idx="20">
                  <c:v>-0.074476</c:v>
                </c:pt>
                <c:pt idx="21">
                  <c:v>-0.109077</c:v>
                </c:pt>
                <c:pt idx="22">
                  <c:v>-0.133455</c:v>
                </c:pt>
                <c:pt idx="23">
                  <c:v>-0.145197</c:v>
                </c:pt>
                <c:pt idx="24">
                  <c:v>-0.14323</c:v>
                </c:pt>
                <c:pt idx="25">
                  <c:v>-0.127703</c:v>
                </c:pt>
                <c:pt idx="26">
                  <c:v>-0.100136</c:v>
                </c:pt>
                <c:pt idx="27">
                  <c:v>-0.063241</c:v>
                </c:pt>
                <c:pt idx="28">
                  <c:v>-0.020623</c:v>
                </c:pt>
                <c:pt idx="29">
                  <c:v>0.023603</c:v>
                </c:pt>
                <c:pt idx="30">
                  <c:v>0.065029</c:v>
                </c:pt>
                <c:pt idx="31">
                  <c:v>0.099719</c:v>
                </c:pt>
                <c:pt idx="32">
                  <c:v>0.124156</c:v>
                </c:pt>
                <c:pt idx="33">
                  <c:v>0.136018</c:v>
                </c:pt>
                <c:pt idx="34">
                  <c:v>0.13411</c:v>
                </c:pt>
                <c:pt idx="35">
                  <c:v>0.118554</c:v>
                </c:pt>
                <c:pt idx="36">
                  <c:v>0.090957</c:v>
                </c:pt>
                <c:pt idx="37">
                  <c:v>0.054002</c:v>
                </c:pt>
                <c:pt idx="38">
                  <c:v>0.011265</c:v>
                </c:pt>
                <c:pt idx="39">
                  <c:v>-0.032991</c:v>
                </c:pt>
                <c:pt idx="40">
                  <c:v>-0.074476</c:v>
                </c:pt>
                <c:pt idx="41">
                  <c:v>-0.109077</c:v>
                </c:pt>
                <c:pt idx="42">
                  <c:v>-0.133455</c:v>
                </c:pt>
                <c:pt idx="43">
                  <c:v>-0.145197</c:v>
                </c:pt>
                <c:pt idx="44">
                  <c:v>-0.14323</c:v>
                </c:pt>
                <c:pt idx="45">
                  <c:v>-0.127703</c:v>
                </c:pt>
                <c:pt idx="46">
                  <c:v>-0.100136</c:v>
                </c:pt>
                <c:pt idx="47">
                  <c:v>-0.063241</c:v>
                </c:pt>
                <c:pt idx="48">
                  <c:v>-0.020623</c:v>
                </c:pt>
                <c:pt idx="49">
                  <c:v>0.023603</c:v>
                </c:pt>
                <c:pt idx="50">
                  <c:v>0.065029</c:v>
                </c:pt>
                <c:pt idx="51">
                  <c:v>0.099719</c:v>
                </c:pt>
                <c:pt idx="52">
                  <c:v>0.124156</c:v>
                </c:pt>
                <c:pt idx="53">
                  <c:v>0.136018</c:v>
                </c:pt>
                <c:pt idx="54">
                  <c:v>0.13411</c:v>
                </c:pt>
                <c:pt idx="55">
                  <c:v>0.118554</c:v>
                </c:pt>
                <c:pt idx="56">
                  <c:v>0.090957</c:v>
                </c:pt>
                <c:pt idx="57">
                  <c:v>0.054002</c:v>
                </c:pt>
                <c:pt idx="58">
                  <c:v>0.011265</c:v>
                </c:pt>
                <c:pt idx="59">
                  <c:v>-0.032991</c:v>
                </c:pt>
                <c:pt idx="60">
                  <c:v>-0.074476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 - 0,5 V (mV)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Tempo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5C096D6C-C4B8-468C-A4CF-82BCA651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C5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C544"/>
                </a:solidFill>
                <a:latin typeface="Arial"/>
                <a:ea typeface="Arial"/>
                <a:cs typeface="Arial"/>
              </a:rPr>
              <a:t>ECOM060  ·  INSTRUMENTAÇÃO ELETRÔNICA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9DE850-97CE-4A2B-A478-7213B84D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Fase 1 · Entrega 01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06E28A1-421B-428D-B4D5-165DE4D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 capacitivo HS1101LF + filtro RC</a:t>
            </a:r>
          </a:p>
        </p:txBody>
      </p:sp>
      <p:sp>
        <p:nvSpPr>
          <p:cNvPr id="4" name="cover-team">
            <a:extLst xmlns:a="http://schemas.openxmlformats.org/drawingml/2006/main">
              <a:ext uri="{FF2B5EF4-FFF2-40B4-BE49-F238E27FC236}">
                <a16:creationId xmlns:a16="http://schemas.microsoft.com/office/drawing/2014/main" id="{DF838398-7AE3-42FB-B012-A4C267DF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E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EF5"/>
                </a:solidFill>
                <a:latin typeface="Arial"/>
                <a:ea typeface="Arial"/>
                <a:cs typeface="Arial"/>
              </a:rPr>
              <a:t>Equipe G04  |  Projeto ideal por especificação</a:t>
            </a:r>
          </a:p>
        </p:txBody>
      </p:sp>
      <p:sp>
        <p:nvSpPr>
          <p:cNvPr id="5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070156FC-21B1-4F79-91C1-117D48E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C5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C544"/>
                </a:solidFill>
                <a:latin typeface="Arial"/>
                <a:ea typeface="Arial"/>
                <a:cs typeface="Arial"/>
              </a:rPr>
              <a:t>Resultados capturados em TyphoonSim/VHIL · 28/09/2026</a:t>
            </a:r>
          </a:p>
        </p:txBody>
      </p:sp>
    </p:spTree>
    <p:extLst>
      <p:ext uri="{BB962C8B-B14F-4D97-AF65-F5344CB8AC3E}">
        <p14:creationId xmlns:p14="http://schemas.microsoft.com/office/powerpoint/2010/main" val="1570009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2238977F-9BF3-4017-97DC-45AFCF6D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Atribuição da Equipe G04</a:t>
            </a:r>
          </a:p>
        </p:txBody>
      </p:sp>
      <p:sp>
        <p:nvSpPr>
          <p:cNvPr id="2" name="rule-2">
            <a:extLst xmlns:a="http://schemas.openxmlformats.org/drawingml/2006/main">
              <a:ext uri="{FF2B5EF4-FFF2-40B4-BE49-F238E27FC236}">
                <a16:creationId xmlns:a16="http://schemas.microsoft.com/office/drawing/2014/main" id="{34AA6F35-C3DE-47AD-B253-0CCF8D8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B223221C-BDAB-44D7-83E1-EA52C64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2">
            <a:extLst xmlns:a="http://schemas.openxmlformats.org/drawingml/2006/main">
              <a:ext uri="{FF2B5EF4-FFF2-40B4-BE49-F238E27FC236}">
                <a16:creationId xmlns:a16="http://schemas.microsoft.com/office/drawing/2014/main" id="{61595F61-B348-4B86-A433-EEBA713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line-2-0">
            <a:extLst xmlns:a="http://schemas.openxmlformats.org/drawingml/2006/main">
              <a:ext uri="{FF2B5EF4-FFF2-40B4-BE49-F238E27FC236}">
                <a16:creationId xmlns:a16="http://schemas.microsoft.com/office/drawing/2014/main" id="{25EEC88A-BC10-4851-89A8-09F8AA2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Sensor atribuído: capacitivo (Capítulo 7.2)</a:t>
            </a:r>
          </a:p>
        </p:txBody>
      </p:sp>
      <p:sp>
        <p:nvSpPr>
          <p:cNvPr id="6" name="line-2-1">
            <a:extLst xmlns:a="http://schemas.openxmlformats.org/drawingml/2006/main">
              <a:ext uri="{FF2B5EF4-FFF2-40B4-BE49-F238E27FC236}">
                <a16:creationId xmlns:a16="http://schemas.microsoft.com/office/drawing/2014/main" id="{A547A4FA-367B-4C47-A6E0-5FF3B6C0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Circuito atribuído: filtros (Capítulo 6.2)</a:t>
            </a:r>
          </a:p>
        </p:txBody>
      </p:sp>
      <p:sp>
        <p:nvSpPr>
          <p:cNvPr id="7" name="line-2-2">
            <a:extLst xmlns:a="http://schemas.openxmlformats.org/drawingml/2006/main">
              <a:ext uri="{FF2B5EF4-FFF2-40B4-BE49-F238E27FC236}">
                <a16:creationId xmlns:a16="http://schemas.microsoft.com/office/drawing/2014/main" id="{7D3351D9-BE8D-4628-BBA3-9851A19A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Nesta entrega: sensor ideal e condicionamento dimensionado</a:t>
            </a:r>
          </a:p>
        </p:txBody>
      </p:sp>
      <p:sp>
        <p:nvSpPr>
          <p:cNvPr id="8" name="line-2-3">
            <a:extLst xmlns:a="http://schemas.openxmlformats.org/drawingml/2006/main">
              <a:ext uri="{FF2B5EF4-FFF2-40B4-BE49-F238E27FC236}">
                <a16:creationId xmlns:a16="http://schemas.microsoft.com/office/drawing/2014/main" id="{866A2F27-666F-4E58-9163-4A5098B7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Referência de entrada: umidade relativa, sem ligação forçada ao sistema térmico</a:t>
            </a:r>
          </a:p>
        </p:txBody>
      </p:sp>
      <p:sp>
        <p:nvSpPr>
          <p:cNvPr id="9" name="line-2-4">
            <a:extLst xmlns:a="http://schemas.openxmlformats.org/drawingml/2006/main">
              <a:ext uri="{FF2B5EF4-FFF2-40B4-BE49-F238E27FC236}">
                <a16:creationId xmlns:a16="http://schemas.microsoft.com/office/drawing/2014/main" id="{254509DD-5345-4F28-B980-928F60BF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Etapa futura: não idealidades estática, dinâmica e espectral</a:t>
            </a:r>
          </a:p>
        </p:txBody>
      </p:sp>
    </p:spTree>
    <p:extLst>
      <p:ext uri="{BB962C8B-B14F-4D97-AF65-F5344CB8AC3E}">
        <p14:creationId xmlns:p14="http://schemas.microsoft.com/office/powerpoint/2010/main" val="615792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D9FBBA97-FBB8-421E-BED8-EF94C1E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Como o HS1101LF mede umidade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962EBFB2-09D1-4D7A-ADB5-FB119398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56A6B842-B8E8-43EA-AEAC-7D2FC25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3">
            <a:extLst xmlns:a="http://schemas.openxmlformats.org/drawingml/2006/main">
              <a:ext uri="{FF2B5EF4-FFF2-40B4-BE49-F238E27FC236}">
                <a16:creationId xmlns:a16="http://schemas.microsoft.com/office/drawing/2014/main" id="{2ACDE48D-21B7-42A8-9717-13FE6BE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line-3-0">
            <a:extLst xmlns:a="http://schemas.openxmlformats.org/drawingml/2006/main">
              <a:ext uri="{FF2B5EF4-FFF2-40B4-BE49-F238E27FC236}">
                <a16:creationId xmlns:a16="http://schemas.microsoft.com/office/drawing/2014/main" id="{C7654E1B-E113-46C6-BE96-E146CC4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Grandeza medida: umidade relativa do ar (UR)</a:t>
            </a:r>
          </a:p>
        </p:txBody>
      </p:sp>
      <p:sp>
        <p:nvSpPr>
          <p:cNvPr id="6" name="line-3-1">
            <a:extLst xmlns:a="http://schemas.openxmlformats.org/drawingml/2006/main">
              <a:ext uri="{FF2B5EF4-FFF2-40B4-BE49-F238E27FC236}">
                <a16:creationId xmlns:a16="http://schemas.microsoft.com/office/drawing/2014/main" id="{BE012806-B771-4EC2-9643-A916B17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Efeito físico: a UR altera o dielétrico e a capacitância</a:t>
            </a:r>
          </a:p>
        </p:txBody>
      </p:sp>
      <p:sp>
        <p:nvSpPr>
          <p:cNvPr id="7" name="line-3-2">
            <a:extLst xmlns:a="http://schemas.openxmlformats.org/drawingml/2006/main">
              <a:ext uri="{FF2B5EF4-FFF2-40B4-BE49-F238E27FC236}">
                <a16:creationId xmlns:a16="http://schemas.microsoft.com/office/drawing/2014/main" id="{7793DE3F-E86A-4ABE-821D-6E1A6D33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Sinal nativo: capacitância em picofarads (pF)</a:t>
            </a:r>
          </a:p>
        </p:txBody>
      </p:sp>
      <p:sp>
        <p:nvSpPr>
          <p:cNvPr id="8" name="line-3-3">
            <a:extLst xmlns:a="http://schemas.openxmlformats.org/drawingml/2006/main">
              <a:ext uri="{FF2B5EF4-FFF2-40B4-BE49-F238E27FC236}">
                <a16:creationId xmlns:a16="http://schemas.microsoft.com/office/drawing/2014/main" id="{8A0B6738-E02F-4C2E-B6FC-F4D4608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Classificação: passivo e por deflexão</a:t>
            </a:r>
          </a:p>
        </p:txBody>
      </p:sp>
      <p:sp>
        <p:nvSpPr>
          <p:cNvPr id="9" name="line-3-4">
            <a:extLst xmlns:a="http://schemas.openxmlformats.org/drawingml/2006/main">
              <a:ext uri="{FF2B5EF4-FFF2-40B4-BE49-F238E27FC236}">
                <a16:creationId xmlns:a16="http://schemas.microsoft.com/office/drawing/2014/main" id="{C3637670-D553-4DDE-A62A-365FF0C1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 capacitância exige excitação elétrica para virar sinal observável</a:t>
            </a:r>
          </a:p>
        </p:txBody>
      </p:sp>
    </p:spTree>
    <p:extLst>
      <p:ext uri="{BB962C8B-B14F-4D97-AF65-F5344CB8AC3E}">
        <p14:creationId xmlns:p14="http://schemas.microsoft.com/office/powerpoint/2010/main" val="775238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4">
            <a:extLst xmlns:a="http://schemas.openxmlformats.org/drawingml/2006/main">
              <a:ext uri="{FF2B5EF4-FFF2-40B4-BE49-F238E27FC236}">
                <a16:creationId xmlns:a16="http://schemas.microsoft.com/office/drawing/2014/main" id="{D22B15C9-A7FD-4503-A9AA-48B4EDFD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Valores reais do fabricante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0D2948CE-F3A4-476D-9C29-7FA753E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4B5CB407-8926-4833-8D45-1048DC15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4">
            <a:extLst xmlns:a="http://schemas.openxmlformats.org/drawingml/2006/main">
              <a:ext uri="{FF2B5EF4-FFF2-40B4-BE49-F238E27FC236}">
                <a16:creationId xmlns:a16="http://schemas.microsoft.com/office/drawing/2014/main" id="{65D65798-78EC-47DD-9C6B-19C949F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ow-bg-0">
            <a:extLst xmlns:a="http://schemas.openxmlformats.org/drawingml/2006/main">
              <a:ext uri="{FF2B5EF4-FFF2-40B4-BE49-F238E27FC236}">
                <a16:creationId xmlns:a16="http://schemas.microsoft.com/office/drawing/2014/main" id="{DEC38C00-0A00-4BD1-8224-4035FB4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3355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5"/>
          </a:solidFill>
          <a:ln xmlns:a="http://schemas.openxmlformats.org/drawingml/2006/main" w="0">
            <a:noFill/>
          </a:ln>
        </p:spPr>
      </p:sp>
      <p:sp>
        <p:nvSpPr>
          <p:cNvPr id="6" name="val-label-0">
            <a:extLst xmlns:a="http://schemas.openxmlformats.org/drawingml/2006/main">
              <a:ext uri="{FF2B5EF4-FFF2-40B4-BE49-F238E27FC236}">
                <a16:creationId xmlns:a16="http://schemas.microsoft.com/office/drawing/2014/main" id="{AF006C74-45EA-46BC-BE06-3DA2E34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14525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Capacitância nominal</a:t>
            </a:r>
          </a:p>
        </p:txBody>
      </p:sp>
      <p:sp>
        <p:nvSpPr>
          <p:cNvPr id="7" name="val-0">
            <a:extLst xmlns:a="http://schemas.openxmlformats.org/drawingml/2006/main">
              <a:ext uri="{FF2B5EF4-FFF2-40B4-BE49-F238E27FC236}">
                <a16:creationId xmlns:a16="http://schemas.microsoft.com/office/drawing/2014/main" id="{81ED8607-D7A2-4B55-866B-2895E0C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145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180 pF a 55% UR</a:t>
            </a:r>
          </a:p>
        </p:txBody>
      </p:sp>
      <p:sp>
        <p:nvSpPr>
          <p:cNvPr id="8" name="row-bg-1">
            <a:extLst xmlns:a="http://schemas.openxmlformats.org/drawingml/2006/main">
              <a:ext uri="{FF2B5EF4-FFF2-40B4-BE49-F238E27FC236}">
                <a16:creationId xmlns:a16="http://schemas.microsoft.com/office/drawing/2014/main" id="{0395EFEA-78E8-445E-81E4-F3B560E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432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9" name="val-label-1">
            <a:extLst xmlns:a="http://schemas.openxmlformats.org/drawingml/2006/main">
              <a:ext uri="{FF2B5EF4-FFF2-40B4-BE49-F238E27FC236}">
                <a16:creationId xmlns:a16="http://schemas.microsoft.com/office/drawing/2014/main" id="{90AF6DC9-B28B-4D03-AD84-AB9D1AE7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Sensibilidade média</a:t>
            </a:r>
          </a:p>
        </p:txBody>
      </p:sp>
      <p:sp>
        <p:nvSpPr>
          <p:cNvPr id="10" name="val-1">
            <a:extLst xmlns:a="http://schemas.openxmlformats.org/drawingml/2006/main">
              <a:ext uri="{FF2B5EF4-FFF2-40B4-BE49-F238E27FC236}">
                <a16:creationId xmlns:a16="http://schemas.microsoft.com/office/drawing/2014/main" id="{02FEF67D-904D-4D56-9DED-792ECB1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241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0,31 pF / %UR (33–75% UR)</a:t>
            </a:r>
          </a:p>
        </p:txBody>
      </p:sp>
      <p:sp>
        <p:nvSpPr>
          <p:cNvPr id="11" name="row-bg-2">
            <a:extLst xmlns:a="http://schemas.openxmlformats.org/drawingml/2006/main">
              <a:ext uri="{FF2B5EF4-FFF2-40B4-BE49-F238E27FC236}">
                <a16:creationId xmlns:a16="http://schemas.microsoft.com/office/drawing/2014/main" id="{344865E8-82A6-4374-87C9-0C35B36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5285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5"/>
          </a:solidFill>
          <a:ln xmlns:a="http://schemas.openxmlformats.org/drawingml/2006/main" w="0">
            <a:noFill/>
          </a:ln>
        </p:spPr>
      </p:sp>
      <p:sp>
        <p:nvSpPr>
          <p:cNvPr id="12" name="val-label-2">
            <a:extLst xmlns:a="http://schemas.openxmlformats.org/drawingml/2006/main">
              <a:ext uri="{FF2B5EF4-FFF2-40B4-BE49-F238E27FC236}">
                <a16:creationId xmlns:a16="http://schemas.microsoft.com/office/drawing/2014/main" id="{24672A30-D1BB-4211-B77D-2FAB28A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33825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Constante de resposta</a:t>
            </a:r>
          </a:p>
        </p:txBody>
      </p:sp>
      <p:sp>
        <p:nvSpPr>
          <p:cNvPr id="13" name="val-2">
            <a:extLst xmlns:a="http://schemas.openxmlformats.org/drawingml/2006/main">
              <a:ext uri="{FF2B5EF4-FFF2-40B4-BE49-F238E27FC236}">
                <a16:creationId xmlns:a16="http://schemas.microsoft.com/office/drawing/2014/main" id="{35D0A40A-B7FB-4270-B62C-66B1D262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338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3 s típica; 5 s máxima</a:t>
            </a:r>
          </a:p>
        </p:txBody>
      </p:sp>
      <p:sp>
        <p:nvSpPr>
          <p:cNvPr id="14" name="row-bg-3">
            <a:extLst xmlns:a="http://schemas.openxmlformats.org/drawingml/2006/main">
              <a:ext uri="{FF2B5EF4-FFF2-40B4-BE49-F238E27FC236}">
                <a16:creationId xmlns:a16="http://schemas.microsoft.com/office/drawing/2014/main" id="{E689A8A0-F5F5-491F-A338-1944FE9F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625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5" name="val-label-3">
            <a:extLst xmlns:a="http://schemas.openxmlformats.org/drawingml/2006/main">
              <a:ext uri="{FF2B5EF4-FFF2-40B4-BE49-F238E27FC236}">
                <a16:creationId xmlns:a16="http://schemas.microsoft.com/office/drawing/2014/main" id="{667E00E5-0EBC-45E2-8A9C-F0586E3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Condição de leitura</a:t>
            </a:r>
          </a:p>
        </p:txBody>
      </p:sp>
      <p:sp>
        <p:nvSpPr>
          <p:cNvPr id="16" name="val-3">
            <a:extLst xmlns:a="http://schemas.openxmlformats.org/drawingml/2006/main">
              <a:ext uri="{FF2B5EF4-FFF2-40B4-BE49-F238E27FC236}">
                <a16:creationId xmlns:a16="http://schemas.microsoft.com/office/drawing/2014/main" id="{6007D68F-199C-48F9-89AF-2BC27B0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43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10 kHz e 1 V AC</a:t>
            </a:r>
          </a:p>
        </p:txBody>
      </p:sp>
      <p:sp>
        <p:nvSpPr>
          <p:cNvPr id="17" name="datasheet-cite">
            <a:extLst xmlns:a="http://schemas.openxmlformats.org/drawingml/2006/main">
              <a:ext uri="{FF2B5EF4-FFF2-40B4-BE49-F238E27FC236}">
                <a16:creationId xmlns:a16="http://schemas.microsoft.com/office/drawing/2014/main" id="{29A36AC2-DAB6-4BCB-94CC-E11F59D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Fonte: HS1101LF, datasheet HPC052_I, p. 2 (acesso: 27/09/2026)</a:t>
            </a:r>
          </a:p>
        </p:txBody>
      </p:sp>
    </p:spTree>
    <p:extLst>
      <p:ext uri="{BB962C8B-B14F-4D97-AF65-F5344CB8AC3E}">
        <p14:creationId xmlns:p14="http://schemas.microsoft.com/office/powerpoint/2010/main" val="1297539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20F4FF28-98C7-4300-9D46-D30D5C99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R2: critério verificável da G04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59D4B46E-D0FA-42FE-BA1A-791895A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9E6E00F2-98B7-48B5-9109-033E9F1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5">
            <a:extLst xmlns:a="http://schemas.openxmlformats.org/drawingml/2006/main">
              <a:ext uri="{FF2B5EF4-FFF2-40B4-BE49-F238E27FC236}">
                <a16:creationId xmlns:a16="http://schemas.microsoft.com/office/drawing/2014/main" id="{D9857A00-37CF-4A83-99EF-6D8B6970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line-5-0">
            <a:extLst xmlns:a="http://schemas.openxmlformats.org/drawingml/2006/main">
              <a:ext uri="{FF2B5EF4-FFF2-40B4-BE49-F238E27FC236}">
                <a16:creationId xmlns:a16="http://schemas.microsoft.com/office/drawing/2014/main" id="{98E4AD13-D26A-4138-AFE6-3BB038C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Enunciado: atenuação ≥ 20 dB acima de um corte ligado ao sensor</a:t>
            </a:r>
          </a:p>
        </p:txBody>
      </p:sp>
      <p:sp>
        <p:nvSpPr>
          <p:cNvPr id="6" name="line-5-1">
            <a:extLst xmlns:a="http://schemas.openxmlformats.org/drawingml/2006/main">
              <a:ext uri="{FF2B5EF4-FFF2-40B4-BE49-F238E27FC236}">
                <a16:creationId xmlns:a16="http://schemas.microsoft.com/office/drawing/2014/main" id="{AD06F071-737C-4515-82E3-3677B603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Dinâmica publicada: τsensor = 3 s  ⇒  f_s = 0,053 Hz</a:t>
            </a:r>
          </a:p>
        </p:txBody>
      </p:sp>
      <p:sp>
        <p:nvSpPr>
          <p:cNvPr id="7" name="line-5-2">
            <a:extLst xmlns:a="http://schemas.openxmlformats.org/drawingml/2006/main">
              <a:ext uri="{FF2B5EF4-FFF2-40B4-BE49-F238E27FC236}">
                <a16:creationId xmlns:a16="http://schemas.microsoft.com/office/drawing/2014/main" id="{47DF569F-B3F5-483D-9D49-B7325B4E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Passagem adotada: perda adicional &lt; 0,5 dB em f_s</a:t>
            </a:r>
          </a:p>
        </p:txBody>
      </p:sp>
      <p:sp>
        <p:nvSpPr>
          <p:cNvPr id="8" name="line-5-3">
            <a:extLst xmlns:a="http://schemas.openxmlformats.org/drawingml/2006/main">
              <a:ext uri="{FF2B5EF4-FFF2-40B4-BE49-F238E27FC236}">
                <a16:creationId xmlns:a16="http://schemas.microsoft.com/office/drawing/2014/main" id="{F96AC321-93FD-46C9-B03B-EE63FF9C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Rejeição adotada: atenuação ≥ 20 dB para f ≥ 1 Hz</a:t>
            </a:r>
          </a:p>
        </p:txBody>
      </p:sp>
      <p:sp>
        <p:nvSpPr>
          <p:cNvPr id="9" name="line-5-4">
            <a:extLst xmlns:a="http://schemas.openxmlformats.org/drawingml/2006/main">
              <a:ext uri="{FF2B5EF4-FFF2-40B4-BE49-F238E27FC236}">
                <a16:creationId xmlns:a16="http://schemas.microsoft.com/office/drawing/2014/main" id="{0A31E059-C129-4402-9B98-3A7EF7E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Entre passagem e rejeição existe uma banda de transição</a:t>
            </a:r>
          </a:p>
        </p:txBody>
      </p:sp>
    </p:spTree>
    <p:extLst>
      <p:ext uri="{BB962C8B-B14F-4D97-AF65-F5344CB8AC3E}">
        <p14:creationId xmlns:p14="http://schemas.microsoft.com/office/powerpoint/2010/main" val="297416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6E5D642F-239C-4BA1-925C-1A28104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Cadeia ideal no TyphoonSim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B5F98A2A-78F8-420F-9AFF-9A76FB5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16463ED0-714B-4144-99AA-1432CC1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6">
            <a:extLst xmlns:a="http://schemas.openxmlformats.org/drawingml/2006/main">
              <a:ext uri="{FF2B5EF4-FFF2-40B4-BE49-F238E27FC236}">
                <a16:creationId xmlns:a16="http://schemas.microsoft.com/office/drawing/2014/main" id="{F2D7E435-88F3-4D3B-AB81-E295D2E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chain-0">
            <a:extLst xmlns:a="http://schemas.openxmlformats.org/drawingml/2006/main">
              <a:ext uri="{FF2B5EF4-FFF2-40B4-BE49-F238E27FC236}">
                <a16:creationId xmlns:a16="http://schemas.microsoft.com/office/drawing/2014/main" id="{D7D68C63-5907-4E51-8B7E-222B572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5"/>
          </a:solidFill>
          <a:ln xmlns:a="http://schemas.openxmlformats.org/drawingml/2006/main" w="9525">
            <a:solidFill>
              <a:srgbClr val="126A91"/>
            </a:solidFill>
          </a:ln>
        </p:spPr>
      </p:sp>
      <p:sp>
        <p:nvSpPr>
          <p:cNvPr id="6" name="chain-title-0">
            <a:extLst xmlns:a="http://schemas.openxmlformats.org/drawingml/2006/main">
              <a:ext uri="{FF2B5EF4-FFF2-40B4-BE49-F238E27FC236}">
                <a16:creationId xmlns:a16="http://schemas.microsoft.com/office/drawing/2014/main" id="{356BCA50-6B57-4F26-9F99-AEC7E1D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UR de referência</a:t>
            </a:r>
          </a:p>
        </p:txBody>
      </p:sp>
      <p:sp>
        <p:nvSpPr>
          <p:cNvPr id="7" name="chain-value-0">
            <a:extLst xmlns:a="http://schemas.openxmlformats.org/drawingml/2006/main">
              <a:ext uri="{FF2B5EF4-FFF2-40B4-BE49-F238E27FC236}">
                <a16:creationId xmlns:a16="http://schemas.microsoft.com/office/drawing/2014/main" id="{E756D67F-B437-4B2E-9268-EF1A450D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33% → 75%</a:t>
            </a:r>
          </a:p>
        </p:txBody>
      </p:sp>
      <p:sp>
        <p:nvSpPr>
          <p:cNvPr id="8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F5F8F52A-CA3F-4D82-8D00-1779490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0325"/>
            <a:ext cx="295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26A9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6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chain-1">
            <a:extLst xmlns:a="http://schemas.openxmlformats.org/drawingml/2006/main">
              <a:ext uri="{FF2B5EF4-FFF2-40B4-BE49-F238E27FC236}">
                <a16:creationId xmlns:a16="http://schemas.microsoft.com/office/drawing/2014/main" id="{B010188E-5C63-49FE-BB71-745C98B8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98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126A91"/>
            </a:solidFill>
          </a:ln>
        </p:spPr>
      </p:sp>
      <p:sp>
        <p:nvSpPr>
          <p:cNvPr id="10" name="chain-title-1">
            <a:extLst xmlns:a="http://schemas.openxmlformats.org/drawingml/2006/main">
              <a:ext uri="{FF2B5EF4-FFF2-40B4-BE49-F238E27FC236}">
                <a16:creationId xmlns:a16="http://schemas.microsoft.com/office/drawing/2014/main" id="{D289886F-663F-4536-AB47-850A830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288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HS1101LF ideal</a:t>
            </a:r>
          </a:p>
        </p:txBody>
      </p:sp>
      <p:sp>
        <p:nvSpPr>
          <p:cNvPr id="11" name="chain-value-1">
            <a:extLst xmlns:a="http://schemas.openxmlformats.org/drawingml/2006/main">
              <a:ext uri="{FF2B5EF4-FFF2-40B4-BE49-F238E27FC236}">
                <a16:creationId xmlns:a16="http://schemas.microsoft.com/office/drawing/2014/main" id="{3E32B595-2913-4592-9C92-629B572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C(UR)</a:t>
            </a:r>
          </a:p>
        </p:txBody>
      </p:sp>
      <p:sp>
        <p:nvSpPr>
          <p:cNvPr id="12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8CA2B424-AC32-4E65-9FF9-8A5E124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0325"/>
            <a:ext cx="295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26A9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6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chain-2">
            <a:extLst xmlns:a="http://schemas.openxmlformats.org/drawingml/2006/main">
              <a:ext uri="{FF2B5EF4-FFF2-40B4-BE49-F238E27FC236}">
                <a16:creationId xmlns:a16="http://schemas.microsoft.com/office/drawing/2014/main" id="{1D5CC27B-77C8-4A1F-ADAF-DDAFDA6C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98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5"/>
          </a:solidFill>
          <a:ln xmlns:a="http://schemas.openxmlformats.org/drawingml/2006/main" w="9525">
            <a:solidFill>
              <a:srgbClr val="126A91"/>
            </a:solidFill>
          </a:ln>
        </p:spPr>
      </p:sp>
      <p:sp>
        <p:nvSpPr>
          <p:cNvPr id="14" name="chain-title-2">
            <a:extLst xmlns:a="http://schemas.openxmlformats.org/drawingml/2006/main">
              <a:ext uri="{FF2B5EF4-FFF2-40B4-BE49-F238E27FC236}">
                <a16:creationId xmlns:a16="http://schemas.microsoft.com/office/drawing/2014/main" id="{02294C0F-6DCE-435A-A6EB-F3F7B2D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288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Interface ideal</a:t>
            </a:r>
          </a:p>
        </p:txBody>
      </p:sp>
      <p:sp>
        <p:nvSpPr>
          <p:cNvPr id="15" name="chain-value-2">
            <a:extLst xmlns:a="http://schemas.openxmlformats.org/drawingml/2006/main">
              <a:ext uri="{FF2B5EF4-FFF2-40B4-BE49-F238E27FC236}">
                <a16:creationId xmlns:a16="http://schemas.microsoft.com/office/drawing/2014/main" id="{1728EC89-E3AF-4B14-A0E0-9A187D8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divisor + envoltória</a:t>
            </a:r>
          </a:p>
        </p:txBody>
      </p:sp>
      <p:sp>
        <p:nvSpPr>
          <p:cNvPr id="16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A0C80AD6-7494-411C-8C2E-15EB9BB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0325"/>
            <a:ext cx="295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26A9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6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chain-3">
            <a:extLst xmlns:a="http://schemas.openxmlformats.org/drawingml/2006/main">
              <a:ext uri="{FF2B5EF4-FFF2-40B4-BE49-F238E27FC236}">
                <a16:creationId xmlns:a16="http://schemas.microsoft.com/office/drawing/2014/main" id="{A823C0E5-F58B-4FBA-BE2B-039C89F9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98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126A91"/>
            </a:solidFill>
          </a:ln>
        </p:spPr>
      </p:sp>
      <p:sp>
        <p:nvSpPr>
          <p:cNvPr id="18" name="chain-title-3">
            <a:extLst xmlns:a="http://schemas.openxmlformats.org/drawingml/2006/main">
              <a:ext uri="{FF2B5EF4-FFF2-40B4-BE49-F238E27FC236}">
                <a16:creationId xmlns:a16="http://schemas.microsoft.com/office/drawing/2014/main" id="{F7715D7D-522E-4870-BBB6-D885D80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288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Filtro atribuído</a:t>
            </a:r>
          </a:p>
        </p:txBody>
      </p:sp>
      <p:sp>
        <p:nvSpPr>
          <p:cNvPr id="19" name="chain-value-3">
            <a:extLst xmlns:a="http://schemas.openxmlformats.org/drawingml/2006/main">
              <a:ext uri="{FF2B5EF4-FFF2-40B4-BE49-F238E27FC236}">
                <a16:creationId xmlns:a16="http://schemas.microsoft.com/office/drawing/2014/main" id="{3F4B5999-C2EC-4C4A-B541-BC91B6C1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RC + buffer + RC</a:t>
            </a:r>
          </a:p>
        </p:txBody>
      </p:sp>
      <p:sp>
        <p:nvSpPr>
          <p:cNvPr id="20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5B3C42C1-1777-4416-AABE-82034E42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0325"/>
            <a:ext cx="295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26A9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6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chain-4">
            <a:extLst xmlns:a="http://schemas.openxmlformats.org/drawingml/2006/main">
              <a:ext uri="{FF2B5EF4-FFF2-40B4-BE49-F238E27FC236}">
                <a16:creationId xmlns:a16="http://schemas.microsoft.com/office/drawing/2014/main" id="{184A0AE8-A1B4-4CD5-8C5B-A47E3418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098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5"/>
          </a:solidFill>
          <a:ln xmlns:a="http://schemas.openxmlformats.org/drawingml/2006/main" w="9525">
            <a:solidFill>
              <a:srgbClr val="126A91"/>
            </a:solidFill>
          </a:ln>
        </p:spPr>
      </p:sp>
      <p:sp>
        <p:nvSpPr>
          <p:cNvPr id="22" name="chain-title-4">
            <a:extLst xmlns:a="http://schemas.openxmlformats.org/drawingml/2006/main">
              <a:ext uri="{FF2B5EF4-FFF2-40B4-BE49-F238E27FC236}">
                <a16:creationId xmlns:a16="http://schemas.microsoft.com/office/drawing/2014/main" id="{75225BAF-5A70-427C-A367-7A1C93AB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B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B40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23" name="chain-value-4">
            <a:extLst xmlns:a="http://schemas.openxmlformats.org/drawingml/2006/main">
              <a:ext uri="{FF2B5EF4-FFF2-40B4-BE49-F238E27FC236}">
                <a16:creationId xmlns:a16="http://schemas.microsoft.com/office/drawing/2014/main" id="{5E2D48D1-6A65-4237-B11E-F454354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V filtrado</a:t>
            </a:r>
          </a:p>
        </p:txBody>
      </p:sp>
      <p:sp>
        <p:nvSpPr>
          <p:cNvPr id="24" name="chain-caveat">
            <a:extLst xmlns:a="http://schemas.openxmlformats.org/drawingml/2006/main">
              <a:ext uri="{FF2B5EF4-FFF2-40B4-BE49-F238E27FC236}">
                <a16:creationId xmlns:a16="http://schemas.microsoft.com/office/drawing/2014/main" id="{1C2BA2B4-345D-438D-9413-8C99D153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 portadora de 10 kHz é representada pela envoltória ideal.</a:t>
            </a:r>
          </a:p>
          <a:p xmlns:a="http://schemas.openxmlformats.org/drawingml/2006/main">
            <a:pPr algn="l">
              <a:defRPr sz="172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Os RC são implementados como modelos comportamentais equivalentes.</a:t>
            </a:r>
          </a:p>
        </p:txBody>
      </p:sp>
    </p:spTree>
    <p:extLst>
      <p:ext uri="{BB962C8B-B14F-4D97-AF65-F5344CB8AC3E}">
        <p14:creationId xmlns:p14="http://schemas.microsoft.com/office/powerpoint/2010/main" val="2116052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7">
            <a:extLst xmlns:a="http://schemas.openxmlformats.org/drawingml/2006/main">
              <a:ext uri="{FF2B5EF4-FFF2-40B4-BE49-F238E27FC236}">
                <a16:creationId xmlns:a16="http://schemas.microsoft.com/office/drawing/2014/main" id="{4F994D1E-124B-4D35-9219-7CF6095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R3: da umidade à tensão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1ADDFC15-CC4C-4A4C-889A-08FC3E34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C677B072-FB2F-43F4-9966-AFDD1FA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7">
            <a:extLst xmlns:a="http://schemas.openxmlformats.org/drawingml/2006/main">
              <a:ext uri="{FF2B5EF4-FFF2-40B4-BE49-F238E27FC236}">
                <a16:creationId xmlns:a16="http://schemas.microsoft.com/office/drawing/2014/main" id="{D1152F3C-7DC9-466F-8E40-5C696AA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line-7-0">
            <a:extLst xmlns:a="http://schemas.openxmlformats.org/drawingml/2006/main">
              <a:ext uri="{FF2B5EF4-FFF2-40B4-BE49-F238E27FC236}">
                <a16:creationId xmlns:a16="http://schemas.microsoft.com/office/drawing/2014/main" id="{A483B6AF-A79A-4992-9630-9CAA0A93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C(UR) = 180 + 0,31 · (UR − 55) pF  [33–75% UR]</a:t>
            </a:r>
          </a:p>
        </p:txBody>
      </p:sp>
      <p:sp>
        <p:nvSpPr>
          <p:cNvPr id="6" name="line-7-1">
            <a:extLst xmlns:a="http://schemas.openxmlformats.org/drawingml/2006/main">
              <a:ext uri="{FF2B5EF4-FFF2-40B4-BE49-F238E27FC236}">
                <a16:creationId xmlns:a16="http://schemas.microsoft.com/office/drawing/2014/main" id="{871D7CC2-0668-49EE-810F-970BB7DE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Cref = 180 pF, escolhido igual ao valor nominal</a:t>
            </a:r>
          </a:p>
        </p:txBody>
      </p:sp>
      <p:sp>
        <p:nvSpPr>
          <p:cNvPr id="7" name="line-7-2">
            <a:extLst xmlns:a="http://schemas.openxmlformats.org/drawingml/2006/main">
              <a:ext uri="{FF2B5EF4-FFF2-40B4-BE49-F238E27FC236}">
                <a16:creationId xmlns:a16="http://schemas.microsoft.com/office/drawing/2014/main" id="{4C26E1BF-B95A-4BDD-B190-543BB5A7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Venv = 1 V · C / (C + Cref)</a:t>
            </a:r>
          </a:p>
        </p:txBody>
      </p:sp>
      <p:sp>
        <p:nvSpPr>
          <p:cNvPr id="8" name="line-7-3">
            <a:extLst xmlns:a="http://schemas.openxmlformats.org/drawingml/2006/main">
              <a:ext uri="{FF2B5EF4-FFF2-40B4-BE49-F238E27FC236}">
                <a16:creationId xmlns:a16="http://schemas.microsoft.com/office/drawing/2014/main" id="{72497D8E-8FE4-4B7E-9B3B-805BC2C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33% UR: 173,18 pF  →  0,490345 V</a:t>
            </a:r>
          </a:p>
        </p:txBody>
      </p:sp>
      <p:sp>
        <p:nvSpPr>
          <p:cNvPr id="9" name="line-7-4">
            <a:extLst xmlns:a="http://schemas.openxmlformats.org/drawingml/2006/main">
              <a:ext uri="{FF2B5EF4-FFF2-40B4-BE49-F238E27FC236}">
                <a16:creationId xmlns:a16="http://schemas.microsoft.com/office/drawing/2014/main" id="{46E4358C-5BCC-490A-9B5E-E9E3A03A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75% UR: 186,20 pF  →  0,508465 V</a:t>
            </a:r>
          </a:p>
        </p:txBody>
      </p:sp>
    </p:spTree>
    <p:extLst>
      <p:ext uri="{BB962C8B-B14F-4D97-AF65-F5344CB8AC3E}">
        <p14:creationId xmlns:p14="http://schemas.microsoft.com/office/powerpoint/2010/main" val="1562319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8">
            <a:extLst xmlns:a="http://schemas.openxmlformats.org/drawingml/2006/main">
              <a:ext uri="{FF2B5EF4-FFF2-40B4-BE49-F238E27FC236}">
                <a16:creationId xmlns:a16="http://schemas.microsoft.com/office/drawing/2014/main" id="{F09A38ED-76FC-476C-AE49-2DA3F100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R3: dimensionamento dos dois RC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372B2CFF-6C0C-47B8-A986-4AAD02F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6443B33C-3E01-409E-A710-5FDFACAE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8">
            <a:extLst xmlns:a="http://schemas.openxmlformats.org/drawingml/2006/main">
              <a:ext uri="{FF2B5EF4-FFF2-40B4-BE49-F238E27FC236}">
                <a16:creationId xmlns:a16="http://schemas.microsoft.com/office/drawing/2014/main" id="{5E0C17E5-61A0-444A-A9D1-59B1FF1D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line-8-0">
            <a:extLst xmlns:a="http://schemas.openxmlformats.org/drawingml/2006/main">
              <a:ext uri="{FF2B5EF4-FFF2-40B4-BE49-F238E27FC236}">
                <a16:creationId xmlns:a16="http://schemas.microsoft.com/office/drawing/2014/main" id="{56127F56-A38F-4AF7-B520-43139EC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τsensor = 3 s  ⇒  f_s = 1 / (2πτsensor) = 0,05305 Hz</a:t>
            </a:r>
          </a:p>
        </p:txBody>
      </p:sp>
      <p:sp>
        <p:nvSpPr>
          <p:cNvPr id="6" name="line-8-1">
            <a:extLst xmlns:a="http://schemas.openxmlformats.org/drawingml/2006/main">
              <a:ext uri="{FF2B5EF4-FFF2-40B4-BE49-F238E27FC236}">
                <a16:creationId xmlns:a16="http://schemas.microsoft.com/office/drawing/2014/main" id="{6F982150-9289-41B1-B197-40CAE52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Escolha: polo de cada estágio f_p = 5 f_s = 0,26526 Hz</a:t>
            </a:r>
          </a:p>
        </p:txBody>
      </p:sp>
      <p:sp>
        <p:nvSpPr>
          <p:cNvPr id="7" name="line-8-2">
            <a:extLst xmlns:a="http://schemas.openxmlformats.org/drawingml/2006/main">
              <a:ext uri="{FF2B5EF4-FFF2-40B4-BE49-F238E27FC236}">
                <a16:creationId xmlns:a16="http://schemas.microsoft.com/office/drawing/2014/main" id="{275887D3-2F83-4FEF-AD36-922949EA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Com R1 = R2 = 100 kΩ: C1 = C2 = 6,0 µF</a:t>
            </a:r>
          </a:p>
        </p:txBody>
      </p:sp>
      <p:sp>
        <p:nvSpPr>
          <p:cNvPr id="8" name="line-8-3">
            <a:extLst xmlns:a="http://schemas.openxmlformats.org/drawingml/2006/main">
              <a:ext uri="{FF2B5EF4-FFF2-40B4-BE49-F238E27FC236}">
                <a16:creationId xmlns:a16="http://schemas.microsoft.com/office/drawing/2014/main" id="{4474D57E-F539-4AC1-BD29-79DCE0B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Cada RC tem τ = RC = 0,6 s; buffers isolam os estágios</a:t>
            </a:r>
          </a:p>
        </p:txBody>
      </p:sp>
      <p:sp>
        <p:nvSpPr>
          <p:cNvPr id="9" name="line-8-4">
            <a:extLst xmlns:a="http://schemas.openxmlformats.org/drawingml/2006/main">
              <a:ext uri="{FF2B5EF4-FFF2-40B4-BE49-F238E27FC236}">
                <a16:creationId xmlns:a16="http://schemas.microsoft.com/office/drawing/2014/main" id="{1FC674D0-C0D1-4775-B0A8-81D62A26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H(s) = 1 / (1 + sRC)²</a:t>
            </a:r>
          </a:p>
        </p:txBody>
      </p:sp>
    </p:spTree>
    <p:extLst>
      <p:ext uri="{BB962C8B-B14F-4D97-AF65-F5344CB8AC3E}">
        <p14:creationId xmlns:p14="http://schemas.microsoft.com/office/powerpoint/2010/main" val="406979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9">
            <a:extLst xmlns:a="http://schemas.openxmlformats.org/drawingml/2006/main">
              <a:ext uri="{FF2B5EF4-FFF2-40B4-BE49-F238E27FC236}">
                <a16:creationId xmlns:a16="http://schemas.microsoft.com/office/drawing/2014/main" id="{497DE3CE-9670-454A-8833-534F6FB4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Por que o filtro atende ao alvo?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B279FBB5-BF70-4356-970A-306D8870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EA1D315D-B7EF-4C03-A92B-2F79597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9">
            <a:extLst xmlns:a="http://schemas.openxmlformats.org/drawingml/2006/main">
              <a:ext uri="{FF2B5EF4-FFF2-40B4-BE49-F238E27FC236}">
                <a16:creationId xmlns:a16="http://schemas.microsoft.com/office/drawing/2014/main" id="{1A2C7AA5-0CD6-4D06-9457-A88C9AD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line-9-0">
            <a:extLst xmlns:a="http://schemas.openxmlformats.org/drawingml/2006/main">
              <a:ext uri="{FF2B5EF4-FFF2-40B4-BE49-F238E27FC236}">
                <a16:creationId xmlns:a16="http://schemas.microsoft.com/office/drawing/2014/main" id="{AE410ECA-27D4-4A0C-B5B8-576439B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Atenuação prevista na escala do sensor (0,053 Hz): 0,341 dB</a:t>
            </a:r>
          </a:p>
        </p:txBody>
      </p:sp>
      <p:sp>
        <p:nvSpPr>
          <p:cNvPr id="6" name="line-9-1">
            <a:extLst xmlns:a="http://schemas.openxmlformats.org/drawingml/2006/main">
              <a:ext uri="{FF2B5EF4-FFF2-40B4-BE49-F238E27FC236}">
                <a16:creationId xmlns:a16="http://schemas.microsoft.com/office/drawing/2014/main" id="{3AA02651-BA68-4021-9496-32127A7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Atenuação prevista em 0,1 Hz: 1,154 dB</a:t>
            </a:r>
          </a:p>
        </p:txBody>
      </p:sp>
      <p:sp>
        <p:nvSpPr>
          <p:cNvPr id="7" name="line-9-2">
            <a:extLst xmlns:a="http://schemas.openxmlformats.org/drawingml/2006/main">
              <a:ext uri="{FF2B5EF4-FFF2-40B4-BE49-F238E27FC236}">
                <a16:creationId xmlns:a16="http://schemas.microsoft.com/office/drawing/2014/main" id="{7DBC7F57-0586-4A8C-9F39-2AE6053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Atenuação prevista em 1 Hz: 23,644 dB</a:t>
            </a:r>
          </a:p>
        </p:txBody>
      </p:sp>
      <p:sp>
        <p:nvSpPr>
          <p:cNvPr id="8" name="line-9-3">
            <a:extLst xmlns:a="http://schemas.openxmlformats.org/drawingml/2006/main">
              <a:ext uri="{FF2B5EF4-FFF2-40B4-BE49-F238E27FC236}">
                <a16:creationId xmlns:a16="http://schemas.microsoft.com/office/drawing/2014/main" id="{AEFDA7BB-6CF4-4A3A-A46C-4371D160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A marca de 20 dB ocorre em 0,796 Hz</a:t>
            </a:r>
          </a:p>
        </p:txBody>
      </p:sp>
      <p:sp>
        <p:nvSpPr>
          <p:cNvPr id="9" name="line-9-4">
            <a:extLst xmlns:a="http://schemas.openxmlformats.org/drawingml/2006/main">
              <a:ext uri="{FF2B5EF4-FFF2-40B4-BE49-F238E27FC236}">
                <a16:creationId xmlns:a16="http://schemas.microsoft.com/office/drawing/2014/main" id="{56A02978-5DB7-4BEC-BC4B-BD377EB8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Logo, f ≥ 1 Hz fica na banda de rejeição declarada</a:t>
            </a:r>
          </a:p>
        </p:txBody>
      </p:sp>
    </p:spTree>
    <p:extLst>
      <p:ext uri="{BB962C8B-B14F-4D97-AF65-F5344CB8AC3E}">
        <p14:creationId xmlns:p14="http://schemas.microsoft.com/office/powerpoint/2010/main" val="1151508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0">
            <a:extLst xmlns:a="http://schemas.openxmlformats.org/drawingml/2006/main">
              <a:ext uri="{FF2B5EF4-FFF2-40B4-BE49-F238E27FC236}">
                <a16:creationId xmlns:a16="http://schemas.microsoft.com/office/drawing/2014/main" id="{D8A606BA-9203-426A-80A8-866BC191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R4: ensaios capturados no VHIL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C725C46B-3A77-41BB-82D6-308A98A6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3AA47CB0-2329-4454-B21E-19AD88E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10">
            <a:extLst xmlns:a="http://schemas.openxmlformats.org/drawingml/2006/main">
              <a:ext uri="{FF2B5EF4-FFF2-40B4-BE49-F238E27FC236}">
                <a16:creationId xmlns:a16="http://schemas.microsoft.com/office/drawing/2014/main" id="{D48D887F-B775-4F55-8B72-1F726ED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line-10-0">
            <a:extLst xmlns:a="http://schemas.openxmlformats.org/drawingml/2006/main">
              <a:ext uri="{FF2B5EF4-FFF2-40B4-BE49-F238E27FC236}">
                <a16:creationId xmlns:a16="http://schemas.microsoft.com/office/drawing/2014/main" id="{761E73BA-7278-4E07-B7D5-1F9799C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Degrau registrado: 33% → 75% UR</a:t>
            </a:r>
          </a:p>
        </p:txBody>
      </p:sp>
      <p:sp>
        <p:nvSpPr>
          <p:cNvPr id="6" name="line-10-1">
            <a:extLst xmlns:a="http://schemas.openxmlformats.org/drawingml/2006/main">
              <a:ext uri="{FF2B5EF4-FFF2-40B4-BE49-F238E27FC236}">
                <a16:creationId xmlns:a16="http://schemas.microsoft.com/office/drawing/2014/main" id="{C3B8E7C7-09FB-4AF9-B1B7-50372289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Dois ensaios: 0,1 Hz na passagem e 1 Hz na rejeição</a:t>
            </a:r>
          </a:p>
        </p:txBody>
      </p:sp>
      <p:sp>
        <p:nvSpPr>
          <p:cNvPr id="7" name="line-10-2">
            <a:extLst xmlns:a="http://schemas.openxmlformats.org/drawingml/2006/main">
              <a:ext uri="{FF2B5EF4-FFF2-40B4-BE49-F238E27FC236}">
                <a16:creationId xmlns:a16="http://schemas.microsoft.com/office/drawing/2014/main" id="{D074DD2A-E8CE-49E9-89FA-FB60E5A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Capture: 42 mil amostras a 1 ms, nove probes</a:t>
            </a:r>
          </a:p>
        </p:txBody>
      </p:sp>
      <p:sp>
        <p:nvSpPr>
          <p:cNvPr id="8" name="line-10-3">
            <a:extLst xmlns:a="http://schemas.openxmlformats.org/drawingml/2006/main">
              <a:ext uri="{FF2B5EF4-FFF2-40B4-BE49-F238E27FC236}">
                <a16:creationId xmlns:a16="http://schemas.microsoft.com/office/drawing/2014/main" id="{BFCE1B02-0E0B-407D-BDB0-2A76C700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Ciclo analisado: 20 mil amostras entre dois reinícios</a:t>
            </a:r>
          </a:p>
        </p:txBody>
      </p:sp>
      <p:sp>
        <p:nvSpPr>
          <p:cNvPr id="9" name="line-10-4">
            <a:extLst xmlns:a="http://schemas.openxmlformats.org/drawingml/2006/main">
              <a:ext uri="{FF2B5EF4-FFF2-40B4-BE49-F238E27FC236}">
                <a16:creationId xmlns:a16="http://schemas.microsoft.com/office/drawing/2014/main" id="{721A6325-4955-4879-B38D-B9854392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2442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CSV e .tse conferidos por hashes SHA-256</a:t>
            </a:r>
          </a:p>
        </p:txBody>
      </p:sp>
    </p:spTree>
    <p:extLst>
      <p:ext uri="{BB962C8B-B14F-4D97-AF65-F5344CB8AC3E}">
        <p14:creationId xmlns:p14="http://schemas.microsoft.com/office/powerpoint/2010/main" val="20289078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1">
            <a:extLst xmlns:a="http://schemas.openxmlformats.org/drawingml/2006/main">
              <a:ext uri="{FF2B5EF4-FFF2-40B4-BE49-F238E27FC236}">
                <a16:creationId xmlns:a16="http://schemas.microsoft.com/office/drawing/2014/main" id="{D3129B8A-FD52-447A-BC2E-9771E5F3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R5: rejeição medida em 1 Hz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5FCEE900-556F-4FD0-94AC-8F7D9F8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2C65BDDF-443B-4442-9984-511088D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11">
            <a:extLst xmlns:a="http://schemas.openxmlformats.org/drawingml/2006/main">
              <a:ext uri="{FF2B5EF4-FFF2-40B4-BE49-F238E27FC236}">
                <a16:creationId xmlns:a16="http://schemas.microsoft.com/office/drawing/2014/main" id="{D3090E52-83E4-4FFA-BAEC-4409294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590675"/>
          <a:ext xmlns:a="http://schemas.openxmlformats.org/drawingml/2006/main" cx="7572375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ead2b636344026"/>
          </a:graphicData>
        </a:graphic>
      </p:graphicFrame>
      <p:sp>
        <p:nvSpPr>
          <p:cNvPr id="6" name="line-11-0">
            <a:extLst xmlns:a="http://schemas.openxmlformats.org/drawingml/2006/main">
              <a:ext uri="{FF2B5EF4-FFF2-40B4-BE49-F238E27FC236}">
                <a16:creationId xmlns:a16="http://schemas.microsoft.com/office/drawing/2014/main" id="{2EEDFA35-94A7-45EA-9366-776F2D0A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Medido: -23,644 dB</a:t>
            </a:r>
          </a:p>
        </p:txBody>
      </p:sp>
      <p:sp>
        <p:nvSpPr>
          <p:cNvPr id="7" name="line-11-1">
            <a:extLst xmlns:a="http://schemas.openxmlformats.org/drawingml/2006/main">
              <a:ext uri="{FF2B5EF4-FFF2-40B4-BE49-F238E27FC236}">
                <a16:creationId xmlns:a16="http://schemas.microsoft.com/office/drawing/2014/main" id="{A7993CB1-F685-4088-9EF5-2D6E993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Meta: ≤ −20 dB</a:t>
            </a:r>
          </a:p>
        </p:txBody>
      </p:sp>
      <p:sp>
        <p:nvSpPr>
          <p:cNvPr id="8" name="line-11-2">
            <a:extLst xmlns:a="http://schemas.openxmlformats.org/drawingml/2006/main">
              <a:ext uri="{FF2B5EF4-FFF2-40B4-BE49-F238E27FC236}">
                <a16:creationId xmlns:a16="http://schemas.microsoft.com/office/drawing/2014/main" id="{0D2E6A3B-1FCD-4C47-89FD-CFDD8F7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Erro: &lt; 0,00001 dB</a:t>
            </a:r>
          </a:p>
        </p:txBody>
      </p:sp>
      <p:sp>
        <p:nvSpPr>
          <p:cNvPr id="9" name="line-11-3">
            <a:extLst xmlns:a="http://schemas.openxmlformats.org/drawingml/2006/main">
              <a:ext uri="{FF2B5EF4-FFF2-40B4-BE49-F238E27FC236}">
                <a16:creationId xmlns:a16="http://schemas.microsoft.com/office/drawing/2014/main" id="{C15CF513-BFF5-475A-9D62-DD73EE8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Critério atendido</a:t>
            </a:r>
          </a:p>
        </p:txBody>
      </p:sp>
      <p:sp>
        <p:nvSpPr>
          <p:cNvPr id="10" name="source-11">
            <a:extLst xmlns:a="http://schemas.openxmlformats.org/drawingml/2006/main">
              <a:ext uri="{FF2B5EF4-FFF2-40B4-BE49-F238E27FC236}">
                <a16:creationId xmlns:a16="http://schemas.microsoft.com/office/drawing/2014/main" id="{0F34FF4E-E8E4-4308-B47E-C899D15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531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Fonte: Capture VHIL, 28/09/2026; pontos a cada 50 ms.</a:t>
            </a:r>
          </a:p>
        </p:txBody>
      </p:sp>
    </p:spTree>
    <p:extLst>
      <p:ext uri="{BB962C8B-B14F-4D97-AF65-F5344CB8AC3E}">
        <p14:creationId xmlns:p14="http://schemas.microsoft.com/office/powerpoint/2010/main" val="14996702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64C6D8DB-CFA9-40F0-A6CE-E3F55AB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A2B40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0A2B40"/>
                </a:solidFill>
                <a:latin typeface="Georgia"/>
                <a:ea typeface="Georgia"/>
                <a:cs typeface="Georgia"/>
              </a:rPr>
              <a:t>Síntese da Entrega 01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7A21D770-B80F-4E80-B849-851173DC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66825"/>
            <a:ext cx="1000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A91"/>
          </a:solidFill>
          <a:ln xmlns:a="http://schemas.openxmlformats.org/drawingml/2006/main" w="0">
            <a:noFill/>
          </a:ln>
        </p:spPr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BD67366C-1FAF-423B-B6F3-79A8617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ECOM060  •  Equipe G04  •  Entrega 01</a:t>
            </a:r>
          </a:p>
        </p:txBody>
      </p:sp>
      <p:sp>
        <p:nvSpPr>
          <p:cNvPr id="4" name="number-12">
            <a:extLst xmlns:a="http://schemas.openxmlformats.org/drawingml/2006/main">
              <a:ext uri="{FF2B5EF4-FFF2-40B4-BE49-F238E27FC236}">
                <a16:creationId xmlns:a16="http://schemas.microsoft.com/office/drawing/2014/main" id="{6DB73E48-1217-4A87-820B-135A9C07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769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line-12-0">
            <a:extLst xmlns:a="http://schemas.openxmlformats.org/drawingml/2006/main">
              <a:ext uri="{FF2B5EF4-FFF2-40B4-BE49-F238E27FC236}">
                <a16:creationId xmlns:a16="http://schemas.microsoft.com/office/drawing/2014/main" id="{03A7C161-34EC-42A4-91D8-A31D2CDE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240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R1: dados de um sensor capacitivo comercial</a:t>
            </a:r>
          </a:p>
        </p:txBody>
      </p:sp>
      <p:sp>
        <p:nvSpPr>
          <p:cNvPr id="6" name="line-12-1">
            <a:extLst xmlns:a="http://schemas.openxmlformats.org/drawingml/2006/main">
              <a:ext uri="{FF2B5EF4-FFF2-40B4-BE49-F238E27FC236}">
                <a16:creationId xmlns:a16="http://schemas.microsoft.com/office/drawing/2014/main" id="{249269C3-0554-4618-884C-44FF4F56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R2: passagem útil e rejeição de 20 dB declaradas</a:t>
            </a:r>
          </a:p>
        </p:txBody>
      </p:sp>
      <p:sp>
        <p:nvSpPr>
          <p:cNvPr id="7" name="line-12-2">
            <a:extLst xmlns:a="http://schemas.openxmlformats.org/drawingml/2006/main">
              <a:ext uri="{FF2B5EF4-FFF2-40B4-BE49-F238E27FC236}">
                <a16:creationId xmlns:a16="http://schemas.microsoft.com/office/drawing/2014/main" id="{4B455BCE-75A3-46C5-959E-1EC5C71B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R3/R3b: dois RC dimensionados e justificados</a:t>
            </a:r>
          </a:p>
        </p:txBody>
      </p:sp>
      <p:sp>
        <p:nvSpPr>
          <p:cNvPr id="8" name="line-12-3">
            <a:extLst xmlns:a="http://schemas.openxmlformats.org/drawingml/2006/main">
              <a:ext uri="{FF2B5EF4-FFF2-40B4-BE49-F238E27FC236}">
                <a16:creationId xmlns:a16="http://schemas.microsoft.com/office/drawing/2014/main" id="{AA09F193-8AB9-4530-9D56-10390E6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B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C"/>
                </a:solidFill>
                <a:latin typeface="Arial"/>
                <a:ea typeface="Arial"/>
                <a:cs typeface="Arial"/>
              </a:rPr>
              <a:t>R4/R5: captura VHIL analisada; meta de 20 dB atendida</a:t>
            </a:r>
          </a:p>
        </p:txBody>
      </p:sp>
      <p:sp>
        <p:nvSpPr>
          <p:cNvPr id="9" name="sources">
            <a:extLst xmlns:a="http://schemas.openxmlformats.org/drawingml/2006/main">
              <a:ext uri="{FF2B5EF4-FFF2-40B4-BE49-F238E27FC236}">
                <a16:creationId xmlns:a16="http://schemas.microsoft.com/office/drawing/2014/main" id="{45FC6D83-0C3E-43F1-B2AF-6097564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A76"/>
                </a:solidFill>
                <a:latin typeface="Arial"/>
                <a:ea typeface="Arial"/>
                <a:cs typeface="Arial"/>
              </a:rPr>
              <a:t>Fontes: orientação e tabela ECOM060; HS1101LF, HPC052_I (2012).</a:t>
            </a:r>
          </a:p>
        </p:txBody>
      </p:sp>
    </p:spTree>
    <p:extLst>
      <p:ext uri="{BB962C8B-B14F-4D97-AF65-F5344CB8AC3E}">
        <p14:creationId xmlns:p14="http://schemas.microsoft.com/office/powerpoint/2010/main" val="1280768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2026-09-28T04:31:17.8800000Z</dcterms:created>
  <dcterms:modified xsi:type="dcterms:W3CDTF">2026-09-28T04:31:17.8810000Z</dcterms:modified>
</coreProperties>
</file>